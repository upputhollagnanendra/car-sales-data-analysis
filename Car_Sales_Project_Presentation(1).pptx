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9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0E2330"/>
          </a:solidFill>
          <a:ln w="12700">
            <a:solidFill>
              <a:srgbClr val="0E23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9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 SALES ANALYTICS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01400" y="66019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E9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56248"/>
          </a:xfrm>
          <a:prstGeom prst="rect">
            <a:avLst/>
          </a:prstGeom>
          <a:solidFill>
            <a:srgbClr val="09121B"/>
          </a:solidFill>
          <a:ln w="12700">
            <a:solidFill>
              <a:srgbClr val="09121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880360" cy="6556248"/>
          </a:xfrm>
          <a:prstGeom prst="rect">
            <a:avLst/>
          </a:prstGeom>
          <a:solidFill>
            <a:srgbClr val="0B1823"/>
          </a:solidFill>
          <a:ln w="12700">
            <a:solidFill>
              <a:srgbClr val="0B18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4F7FA"/>
                </a:solidFill>
              </a:rPr>
              <a:t>CAR SALES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4F7FA"/>
                </a:solidFill>
              </a:rPr>
              <a:t>ANALYTICS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76072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C9F0"/>
                </a:solidFill>
              </a:rPr>
              <a:t>Power BI Dashboard Project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76072" y="3063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8C5"/>
                </a:solidFill>
              </a:rPr>
              <a:t>Sales • Manufacturers • Models • Pricing • Performance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5394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Prepared from the provided Car_sales(4).csv dataset</a:t>
            </a:r>
            <a:endParaRPr lang="en-US" sz="1050" dirty="0"/>
          </a:p>
        </p:txBody>
      </p:sp>
      <p:pic>
        <p:nvPicPr>
          <p:cNvPr id="8" name="Image 0" descr="/mnt/data/car_sales_assets/dashboard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658368"/>
            <a:ext cx="7909560" cy="53035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703320" y="658368"/>
            <a:ext cx="7909560" cy="5303520"/>
          </a:xfrm>
          <a:prstGeom prst="roundRect">
            <a:avLst>
              <a:gd name="adj" fmla="val 862"/>
            </a:avLst>
          </a:prstGeom>
          <a:solidFill>
            <a:srgbClr val="000000">
              <a:alpha val="0"/>
            </a:srgbClr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Project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Turning vehicle records into a concise, decision-ready sales dashboard.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444752"/>
            <a:ext cx="5111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Project Goal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3EA"/>
                </a:solidFill>
              </a:rPr>
              <a:t>Build an interactive Power BI dashboard that helps a business user answer five practical questions: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2468880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How large is the market represented in the data?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108960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" y="3063240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Which manufacturers generate the most sales?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" y="3657600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Which models are the strongest volume drivers?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4297680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4251960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How do vehicle types compare on price and sales?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4846320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How do efficiency and performance relate to demand?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325880"/>
            <a:ext cx="5468112" cy="4526280"/>
          </a:xfrm>
          <a:prstGeom prst="roundRect">
            <a:avLst>
              <a:gd name="adj" fmla="val 1616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1444752"/>
            <a:ext cx="5138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Solution Structure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</a:rPr>
              <a:t>KPI row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17373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5 headline measures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4505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</a:rPr>
              <a:t>Comparison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2450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Top models + manufacturers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1638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</a:rPr>
              <a:t>Category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31638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Vehicle type + pricing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8770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</a:rPr>
              <a:t>Diagnostic 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387705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Fuel efficiency + performance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590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</a:rPr>
              <a:t>Filter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5902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Manufacturer slicer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5321808"/>
            <a:ext cx="466344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55046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Outcome: a dark, automotive-themed executive view focused on fast comparison and business storytelling.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Dataset Profile &amp; Data Quality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The supplied CSV contains a compact vehicle-market snapshot.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057400" cy="1207008"/>
          </a:xfrm>
          <a:prstGeom prst="roundRect">
            <a:avLst>
              <a:gd name="adj" fmla="val 5303"/>
            </a:avLst>
          </a:prstGeom>
          <a:solidFill>
            <a:srgbClr val="152533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4475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8C5"/>
                </a:solidFill>
              </a:rPr>
              <a:t>Rows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647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157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29514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8C5"/>
                </a:solidFill>
              </a:rPr>
              <a:t>records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697480" y="1325880"/>
            <a:ext cx="2057400" cy="1207008"/>
          </a:xfrm>
          <a:prstGeom prst="roundRect">
            <a:avLst>
              <a:gd name="adj" fmla="val 5303"/>
            </a:avLst>
          </a:prstGeom>
          <a:solidFill>
            <a:srgbClr val="152533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16352" y="144475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8C5"/>
                </a:solidFill>
              </a:rPr>
              <a:t>Fields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88920" y="17647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88920" y="229514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8C5"/>
                </a:solidFill>
              </a:rPr>
              <a:t>columns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892040" y="1325880"/>
            <a:ext cx="2057400" cy="1207008"/>
          </a:xfrm>
          <a:prstGeom prst="roundRect">
            <a:avLst>
              <a:gd name="adj" fmla="val 5303"/>
            </a:avLst>
          </a:prstGeom>
          <a:solidFill>
            <a:srgbClr val="152533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44475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8C5"/>
                </a:solidFill>
              </a:rPr>
              <a:t>Distinct Models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17647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156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83480" y="229514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8C5"/>
                </a:solidFill>
              </a:rPr>
              <a:t>one duplicate model name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086600" y="1325880"/>
            <a:ext cx="2057400" cy="1207008"/>
          </a:xfrm>
          <a:prstGeom prst="roundRect">
            <a:avLst>
              <a:gd name="adj" fmla="val 5303"/>
            </a:avLst>
          </a:prstGeom>
          <a:solidFill>
            <a:srgbClr val="152533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144475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8C5"/>
                </a:solidFill>
              </a:rPr>
              <a:t>Manufacturers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78040" y="17647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30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78040" y="229514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8C5"/>
                </a:solidFill>
              </a:rPr>
              <a:t>unique brands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281160" y="1325880"/>
            <a:ext cx="2377440" cy="1207008"/>
          </a:xfrm>
          <a:prstGeom prst="roundRect">
            <a:avLst>
              <a:gd name="adj" fmla="val 5303"/>
            </a:avLst>
          </a:prstGeom>
          <a:solidFill>
            <a:srgbClr val="152533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00032" y="144475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8C5"/>
                </a:solidFill>
              </a:rPr>
              <a:t>Missing Cells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72600" y="17647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51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372600" y="229514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8C5"/>
                </a:solidFill>
              </a:rPr>
              <a:t>mainly resale value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2816352"/>
            <a:ext cx="5486400" cy="3154680"/>
          </a:xfrm>
          <a:prstGeom prst="roundRect">
            <a:avLst>
              <a:gd name="adj" fmla="val 2319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2935224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Data Quality Findings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355848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3310128"/>
            <a:ext cx="4608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No fully duplicated rows were found.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3950208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3544" y="3904488"/>
            <a:ext cx="4608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36 rows have missing resale-value entries.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4544568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3544" y="4498848"/>
            <a:ext cx="4608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Most other blanks occur in technical numeric fields.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5138928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" y="5093208"/>
            <a:ext cx="4608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Power BI averages exclude blank numeric cells.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9632" y="2816352"/>
            <a:ext cx="5458968" cy="3154680"/>
          </a:xfrm>
          <a:prstGeom prst="roundRect">
            <a:avLst>
              <a:gd name="adj" fmla="val 2319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64224" y="2935224"/>
            <a:ext cx="5129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Main Field Groups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32278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F0"/>
                </a:solidFill>
              </a:rPr>
              <a:t>Commercial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18120" y="32278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3EA"/>
                </a:solidFill>
              </a:rPr>
              <a:t>Sales, price, resale value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6446520" y="363931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F0"/>
                </a:solidFill>
              </a:rPr>
              <a:t>Vehicle identity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818120" y="363931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3EA"/>
                </a:solidFill>
              </a:rPr>
              <a:t>Manufacturer, model, vehicle type</a:t>
            </a:r>
            <a:endParaRPr lang="en-US" sz="960" dirty="0"/>
          </a:p>
        </p:txBody>
      </p:sp>
      <p:sp>
        <p:nvSpPr>
          <p:cNvPr id="41" name="Text 39"/>
          <p:cNvSpPr/>
          <p:nvPr/>
        </p:nvSpPr>
        <p:spPr>
          <a:xfrm>
            <a:off x="6446520" y="40507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F0"/>
                </a:solidFill>
              </a:rPr>
              <a:t>Specifications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18120" y="405079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3EA"/>
                </a:solidFill>
              </a:rPr>
              <a:t>Engine, horsepower, dimensions</a:t>
            </a:r>
            <a:endParaRPr lang="en-US" sz="960" dirty="0"/>
          </a:p>
        </p:txBody>
      </p:sp>
      <p:sp>
        <p:nvSpPr>
          <p:cNvPr id="43" name="Text 41"/>
          <p:cNvSpPr/>
          <p:nvPr/>
        </p:nvSpPr>
        <p:spPr>
          <a:xfrm>
            <a:off x="6446520" y="44622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F0"/>
                </a:solidFill>
              </a:rPr>
              <a:t>Efficiency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818120" y="446227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3EA"/>
                </a:solidFill>
              </a:rPr>
              <a:t>Fuel capacity, fuel efficiency</a:t>
            </a:r>
            <a:endParaRPr lang="en-US" sz="960" dirty="0"/>
          </a:p>
        </p:txBody>
      </p:sp>
      <p:sp>
        <p:nvSpPr>
          <p:cNvPr id="45" name="Text 43"/>
          <p:cNvSpPr/>
          <p:nvPr/>
        </p:nvSpPr>
        <p:spPr>
          <a:xfrm>
            <a:off x="6446520" y="4873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F0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18120" y="48737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3EA"/>
                </a:solidFill>
              </a:rPr>
              <a:t>Power performance factor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6446520" y="52852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F0"/>
                </a:solidFill>
              </a:rPr>
              <a:t>Date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818120" y="52852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D9E3EA"/>
                </a:solidFill>
              </a:rPr>
              <a:t>Latest launch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Dashboard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The final report page combines KPIs, rankings, distributions, and relationships.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pic>
        <p:nvPicPr>
          <p:cNvPr id="5" name="Image 0" descr="/mnt/data/car_sales_assets/dashboard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61872"/>
            <a:ext cx="11109960" cy="5138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1261872"/>
            <a:ext cx="11109960" cy="5138928"/>
          </a:xfrm>
          <a:prstGeom prst="roundRect">
            <a:avLst>
              <a:gd name="adj" fmla="val 890"/>
            </a:avLst>
          </a:prstGeom>
          <a:solidFill>
            <a:srgbClr val="000000">
              <a:alpha val="0"/>
            </a:srgbClr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KPI Snapshot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The KPI row establishes scale before the viewer explores details.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2057400" cy="1417320"/>
          </a:xfrm>
          <a:prstGeom prst="roundRect">
            <a:avLst>
              <a:gd name="adj" fmla="val 4516"/>
            </a:avLst>
          </a:prstGeom>
          <a:solidFill>
            <a:srgbClr val="152533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3619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8C5"/>
                </a:solidFill>
              </a:rPr>
              <a:t>DISTINCT MODELS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8562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156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59689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8C5"/>
                </a:solidFill>
              </a:rPr>
              <a:t>distinct model names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862072" y="1417320"/>
            <a:ext cx="2057400" cy="1417320"/>
          </a:xfrm>
          <a:prstGeom prst="roundRect">
            <a:avLst>
              <a:gd name="adj" fmla="val 4516"/>
            </a:avLst>
          </a:prstGeom>
          <a:solidFill>
            <a:srgbClr val="152533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153619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8C5"/>
                </a:solidFill>
              </a:rPr>
              <a:t>MANUFACTURERS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53512" y="18562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53512" y="259689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8C5"/>
                </a:solidFill>
              </a:rPr>
              <a:t>brands represented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129784" y="1417320"/>
            <a:ext cx="2057400" cy="1417320"/>
          </a:xfrm>
          <a:prstGeom prst="roundRect">
            <a:avLst>
              <a:gd name="adj" fmla="val 4516"/>
            </a:avLst>
          </a:prstGeom>
          <a:solidFill>
            <a:srgbClr val="152533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153619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8C5"/>
                </a:solidFill>
              </a:rPr>
              <a:t>AVERAGE PRICE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21224" y="18562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27.39K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21224" y="259689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8C5"/>
                </a:solidFill>
              </a:rPr>
              <a:t>thousand dollars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397496" y="1417320"/>
            <a:ext cx="2057400" cy="1417320"/>
          </a:xfrm>
          <a:prstGeom prst="roundRect">
            <a:avLst>
              <a:gd name="adj" fmla="val 4516"/>
            </a:avLst>
          </a:prstGeom>
          <a:solidFill>
            <a:srgbClr val="152533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153619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8C5"/>
                </a:solidFill>
              </a:rPr>
              <a:t>TOTAL SALES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88936" y="18562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8.32K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88936" y="259689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8C5"/>
                </a:solidFill>
              </a:rPr>
              <a:t>thousand units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665208" y="1417320"/>
            <a:ext cx="2057400" cy="1417320"/>
          </a:xfrm>
          <a:prstGeom prst="roundRect">
            <a:avLst>
              <a:gd name="adj" fmla="val 4516"/>
            </a:avLst>
          </a:prstGeom>
          <a:solidFill>
            <a:srgbClr val="152533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153619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8C5"/>
                </a:solidFill>
              </a:rPr>
              <a:t>AVERAGE SALES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56648" y="18562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F7FA"/>
                </a:solidFill>
              </a:rPr>
              <a:t>53.00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756648" y="259689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B8C5"/>
                </a:solidFill>
              </a:rPr>
              <a:t>thousand units / row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94360" y="3291840"/>
            <a:ext cx="11128248" cy="2560320"/>
          </a:xfrm>
          <a:prstGeom prst="roundRect">
            <a:avLst>
              <a:gd name="adj" fmla="val 2857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410712"/>
            <a:ext cx="1079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Interpretation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3749040"/>
            <a:ext cx="105613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E3EA"/>
                </a:solidFill>
              </a:rPr>
              <a:t>• The dataset is broad enough to support manufacturer and model comparisons.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3EA"/>
                </a:solidFill>
              </a:rPr>
              <a:t>• Total sales are heavily influenced by a small set of high-volume models.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3EA"/>
                </a:solidFill>
              </a:rPr>
              <a:t>• Average price provides context for the demand picture, but price alone does not explain sales.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3EA"/>
                </a:solidFill>
              </a:rPr>
              <a:t>• The KPI row works best as an executive entry point, not as the full analysis.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Manufacturer Performance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Brand-level ranking makes market concentration immediately visible.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pic>
        <p:nvPicPr>
          <p:cNvPr id="5" name="Image 0" descr="/mnt/data/car_sales_assets/top_manufactur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6537960" cy="4069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417320"/>
            <a:ext cx="4251960" cy="4069080"/>
          </a:xfrm>
          <a:prstGeom prst="roundRect">
            <a:avLst>
              <a:gd name="adj" fmla="val 1798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5512" y="1536192"/>
            <a:ext cx="3922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Top 5 Manufacturers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35240" y="182880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A"/>
                </a:solidFill>
              </a:rPr>
              <a:t>Ford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372600" y="18288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2,022.6K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5240" y="2148840"/>
            <a:ext cx="33832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35240" y="244144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A"/>
                </a:solidFill>
              </a:rPr>
              <a:t>Dodge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372600" y="24414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910.1K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35240" y="2761488"/>
            <a:ext cx="33832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35240" y="305409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A"/>
                </a:solidFill>
              </a:rPr>
              <a:t>Toyota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372600" y="30540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740.2K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35240" y="3374136"/>
            <a:ext cx="33832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35240" y="366674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A"/>
                </a:solidFill>
              </a:rPr>
              <a:t>Honda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372600" y="36667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592.7K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35240" y="3986784"/>
            <a:ext cx="33832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2793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A"/>
                </a:solidFill>
              </a:rPr>
              <a:t>Chevrolet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72600" y="427939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554.4K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635240" y="4599432"/>
            <a:ext cx="33832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92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Ford leads the dataset by a wide margin, making it the clearest manufacturer-level performance story.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Model-Level Sales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The model ranking shows where individual demand is concentrated.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pic>
        <p:nvPicPr>
          <p:cNvPr id="5" name="Image 0" descr="/mnt/data/car_sales_assets/top_mod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658368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60920" y="1417320"/>
            <a:ext cx="4251960" cy="4114800"/>
          </a:xfrm>
          <a:prstGeom prst="roundRect">
            <a:avLst>
              <a:gd name="adj" fmla="val 1778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5512" y="1536192"/>
            <a:ext cx="3922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Top Model Insight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635240" y="1874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7FA"/>
                </a:solidFill>
              </a:rPr>
              <a:t>F-Series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635240" y="25146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5E85D"/>
                </a:solidFill>
              </a:rPr>
              <a:t>540.6K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35240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8C5"/>
                </a:solidFill>
              </a:rPr>
              <a:t>recorded sales (thousand units)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35240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C9F0"/>
                </a:solidFill>
              </a:rPr>
              <a:t>Next tier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635240" y="3977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3EA"/>
                </a:solidFill>
              </a:rPr>
              <a:t>Explorer • Camry • Taurus • Accord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35240" y="4800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Implication: model-level strategy matters because a few products can dominate the sales mix.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Vehicle Type &amp; Pricing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Category mix and pricing add product context to the sales rankings.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pic>
        <p:nvPicPr>
          <p:cNvPr id="5" name="Image 0" descr="/mnt/data/car_sales_assets/vehicle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393192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1371600"/>
            <a:ext cx="2971800" cy="3474720"/>
          </a:xfrm>
          <a:prstGeom prst="roundRect">
            <a:avLst>
              <a:gd name="adj" fmla="val 2462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19472" y="149047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Vehicle Type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74920" y="1920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A"/>
                </a:solidFill>
              </a:rPr>
              <a:t>Passenger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7492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C9F0"/>
                </a:solidFill>
              </a:rPr>
              <a:t>116 rows | 74%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74920" y="2926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A"/>
                </a:solidFill>
              </a:rPr>
              <a:t>Car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7492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E85D"/>
                </a:solidFill>
              </a:rPr>
              <a:t>41 rows | 26%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74920" y="4023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B8C5"/>
                </a:solidFill>
              </a:rPr>
              <a:t>Passenger vehicles are the larger category in the dataset.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55280" y="137160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9872" y="149047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Average Price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7532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A"/>
                </a:solidFill>
              </a:rPr>
              <a:t>Passenger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96696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27.76K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75320" y="2514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7FA"/>
                </a:solidFill>
              </a:rPr>
              <a:t>Car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96696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26.32K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75320" y="2926080"/>
            <a:ext cx="274320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75320" y="32461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The two vehicle types have fairly similar average prices, so category alone is not enough to explain price variation.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Efficiency, Price &amp; Performance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Relationship visuals test whether vehicle characteristics move with sales.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pic>
        <p:nvPicPr>
          <p:cNvPr id="5" name="Image 0" descr="/mnt/data/car_sales_assets/fuel_vs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394960" cy="3429000"/>
          </a:xfrm>
          <a:prstGeom prst="rect">
            <a:avLst/>
          </a:prstGeom>
        </p:spPr>
      </p:pic>
      <p:pic>
        <p:nvPicPr>
          <p:cNvPr id="6" name="Image 1" descr="/mnt/data/car_sales_assets/price_vs_sa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394960" cy="3429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5074920"/>
            <a:ext cx="11045952" cy="960120"/>
          </a:xfrm>
          <a:prstGeom prst="roundRect">
            <a:avLst>
              <a:gd name="adj" fmla="val 7619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5193792"/>
            <a:ext cx="10716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What the relationships suggest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540410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D9E3EA"/>
                </a:solidFill>
              </a:rPr>
              <a:t>Fuel efficiency vs sales: r ≈ -0.02 (almost no linear relationship).   |   Price vs sales: r ≈ -0.30 (moderate negative association).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Key Business Insights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Five observations that stand out from the dashboard.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9047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0A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13350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Market scale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1335024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3EA"/>
                </a:solidFill>
              </a:rPr>
              <a:t>30 manufacturers and 156 distinct models create a broad comparison set.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1920240"/>
            <a:ext cx="987552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40864"/>
            <a:ext cx="502920" cy="502920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597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0A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304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Demand concentration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2304288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3EA"/>
                </a:solidFill>
              </a:rPr>
              <a:t>Ford and F-Series are the strongest manufacturer and model leaders.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17320" y="2889504"/>
            <a:ext cx="987552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310128"/>
            <a:ext cx="502920" cy="502920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290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0A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273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Category mix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32735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3EA"/>
                </a:solidFill>
              </a:rPr>
              <a:t>Passenger vehicles are more numerous and carry more total recorded sales.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17320" y="3858768"/>
            <a:ext cx="987552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279392"/>
            <a:ext cx="502920" cy="502920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982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0A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4242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Pricing signal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4242816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3EA"/>
                </a:solidFill>
              </a:rPr>
              <a:t>Higher-priced vehicles are not the strongest sellers in this sample.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417320" y="4828032"/>
            <a:ext cx="987552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248656"/>
            <a:ext cx="502920" cy="502920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3675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0A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5212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</a:rPr>
              <a:t>Efficiency signal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5212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9E3EA"/>
                </a:solidFill>
              </a:rPr>
              <a:t>Fuel efficiency alone is a weak linear predictor of sales here.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417320" y="5797296"/>
            <a:ext cx="987552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Recommendations &amp; Future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How the dashboard can become a more powerful decision-support product.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90472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Recommended Next Steps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68680" y="1901952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856232"/>
            <a:ext cx="4654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9E3EA"/>
                </a:solidFill>
              </a:rPr>
              <a:t>Prioritize high-volume models in inventory and sales planning.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868680" y="2633472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587752"/>
            <a:ext cx="4654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9E3EA"/>
                </a:solidFill>
              </a:rPr>
              <a:t>Use manufacturer/model rankings as a recurring management view.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868680" y="3364992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3319272"/>
            <a:ext cx="4654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9E3EA"/>
                </a:solidFill>
              </a:rPr>
              <a:t>Segment vehicles by price band, vehicle type, and performance level.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68680" y="4096512"/>
            <a:ext cx="82296" cy="82296"/>
          </a:xfrm>
          <a:prstGeom prst="ellipse">
            <a:avLst/>
          </a:prstGeom>
          <a:solidFill>
            <a:srgbClr val="45E85D"/>
          </a:solidFill>
          <a:ln w="12700">
            <a:solidFill>
              <a:srgbClr val="45E8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4050792"/>
            <a:ext cx="4654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9E3EA"/>
                </a:solidFill>
              </a:rPr>
              <a:t>Document units clearly: sales are in thousands; price is in thousand dollars.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355080" y="1371600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1490472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Future Enhancements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1874520"/>
            <a:ext cx="82296" cy="8229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704" y="1828800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3EA"/>
                </a:solidFill>
              </a:rPr>
              <a:t>Add time-series sales trends when valid date-level sales data is available.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629400" y="2532888"/>
            <a:ext cx="82296" cy="8229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75704" y="2487168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3EA"/>
                </a:solidFill>
              </a:rPr>
              <a:t>Add geography, dealer, discount, or customer-segment data.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629400" y="3191256"/>
            <a:ext cx="82296" cy="8229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3145536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3EA"/>
                </a:solidFill>
              </a:rPr>
              <a:t>Create drill-through pages for manufacturer → model analysis.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629400" y="3849624"/>
            <a:ext cx="82296" cy="8229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3803904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3EA"/>
                </a:solidFill>
              </a:rPr>
              <a:t>Add price bands and performance bands for clearer segmentation.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629400" y="4507992"/>
            <a:ext cx="82296" cy="82296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75704" y="4462272"/>
            <a:ext cx="4425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9E3EA"/>
                </a:solidFill>
              </a:rPr>
              <a:t>Introduce bookmarks for Executive, Product, and Performance views.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Conclusion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8C5"/>
                </a:solidFill>
              </a:rPr>
              <a:t>A compact project demonstrating end-to-end Power BI analytics skills.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2700">
            <a:solidFill>
              <a:srgbClr val="2A3B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0972800" cy="1965960"/>
          </a:xfrm>
          <a:prstGeom prst="roundRect">
            <a:avLst>
              <a:gd name="adj" fmla="val 3721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36192"/>
            <a:ext cx="10643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Project Outcome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901952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7FA"/>
                </a:solidFill>
              </a:rPr>
              <a:t>The Car Sales dashboard turns raw vehicle records into a clear executive story: who sells the most, which models drive demand, how product categories compare, and whether vehicle characteristics align with sales.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77647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Skills Demonstrated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04164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3EA"/>
                </a:solidFill>
              </a:rPr>
              <a:t>Data profiling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9E3EA"/>
                </a:solidFill>
              </a:rPr>
              <a:t>Power Query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9E3EA"/>
                </a:solidFill>
              </a:rPr>
              <a:t>DAX measures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9E3EA"/>
                </a:solidFill>
              </a:rPr>
              <a:t>Dashboard design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6576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377647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Core 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4041648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E3EA"/>
                </a:solidFill>
              </a:rPr>
              <a:t>Power BI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9E3EA"/>
                </a:solidFill>
              </a:rPr>
              <a:t>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9E3EA"/>
                </a:solidFill>
              </a:rPr>
              <a:t>DAX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9E3EA"/>
                </a:solidFill>
              </a:rPr>
              <a:t>Power Query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3657600"/>
            <a:ext cx="3429000" cy="1645920"/>
          </a:xfrm>
          <a:prstGeom prst="roundRect">
            <a:avLst>
              <a:gd name="adj" fmla="val 4444"/>
            </a:avLst>
          </a:prstGeom>
          <a:solidFill>
            <a:srgbClr val="111D28"/>
          </a:solidFill>
          <a:ln w="12700">
            <a:solidFill>
              <a:srgbClr val="2A3B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3776472"/>
            <a:ext cx="3099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7FA"/>
                </a:solidFill>
              </a:rPr>
              <a:t>Portfolio Value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404164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D9E3EA"/>
                </a:solidFill>
              </a:rPr>
              <a:t>Business storytelling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9E3EA"/>
                </a:solidFill>
              </a:rPr>
              <a:t>Analytical thinking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9E3EA"/>
                </a:solidFill>
              </a:rPr>
              <a:t>Decision-ready visuals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D9E3EA"/>
                </a:solidFill>
              </a:rPr>
              <a:t>Interactive reporting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83480" y="5806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E85D"/>
                </a:solidFill>
              </a:rPr>
              <a:t>Thank you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E92A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Sales Analytics Dashboard</dc:title>
  <dc:subject>Car Sales Analytics Project</dc:subject>
  <dc:creator>OpenAI</dc:creator>
  <cp:lastModifiedBy>OpenAI</cp:lastModifiedBy>
  <cp:revision>1</cp:revision>
  <dcterms:created xsi:type="dcterms:W3CDTF">2026-08-12T04:52:15Z</dcterms:created>
  <dcterms:modified xsi:type="dcterms:W3CDTF">2026-08-12T04:52:15Z</dcterms:modified>
</cp:coreProperties>
</file>